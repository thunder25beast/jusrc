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656" y="-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3/10/2024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7700" y="1243445"/>
            <a:ext cx="7543800" cy="2593975"/>
          </a:xfrm>
        </p:spPr>
        <p:txBody>
          <a:bodyPr/>
          <a:lstStyle/>
          <a:p>
            <a:r>
              <a:rPr lang="en-IN" sz="3600" dirty="0"/>
              <a:t>Early onset </a:t>
            </a:r>
            <a:r>
              <a:rPr lang="en-IN" sz="3600" dirty="0" smtClean="0"/>
              <a:t>culture-proven</a:t>
            </a:r>
            <a:br>
              <a:rPr lang="en-IN" sz="3600" dirty="0" smtClean="0"/>
            </a:br>
            <a:r>
              <a:rPr lang="en-IN" sz="3600" dirty="0" smtClean="0"/>
              <a:t>neonatal </a:t>
            </a:r>
            <a:r>
              <a:rPr lang="en-IN" sz="3600" dirty="0"/>
              <a:t>sepsis and </a:t>
            </a:r>
            <a:r>
              <a:rPr lang="en-IN" sz="3600" dirty="0" smtClean="0"/>
              <a:t>maternal</a:t>
            </a:r>
            <a:br>
              <a:rPr lang="en-IN" sz="3600" dirty="0" smtClean="0"/>
            </a:br>
            <a:r>
              <a:rPr lang="en-IN" sz="3600" dirty="0" smtClean="0"/>
              <a:t>genital </a:t>
            </a:r>
            <a:r>
              <a:rPr lang="en-IN" sz="3600" dirty="0"/>
              <a:t>colonisation </a:t>
            </a:r>
            <a:r>
              <a:rPr lang="en-IN" sz="3600" dirty="0" smtClean="0"/>
              <a:t/>
            </a:r>
            <a:br>
              <a:rPr lang="en-IN" sz="3600" dirty="0" smtClean="0"/>
            </a:br>
            <a:r>
              <a:rPr lang="en-IN" sz="3600" dirty="0" smtClean="0"/>
              <a:t>- </a:t>
            </a:r>
            <a:r>
              <a:rPr lang="en-IN" sz="3600" dirty="0"/>
              <a:t>A retrospective cross sectional study in a tertiary healthcare centre in South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038600"/>
            <a:ext cx="6934200" cy="1752600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Chinua </a:t>
            </a:r>
            <a:r>
              <a:rPr lang="en-IN" dirty="0" err="1" smtClean="0"/>
              <a:t>Pailoor</a:t>
            </a:r>
            <a:r>
              <a:rPr lang="en-IN" dirty="0" smtClean="0"/>
              <a:t>, MBBS 3</a:t>
            </a:r>
            <a:r>
              <a:rPr lang="en-IN" baseline="30000" dirty="0" smtClean="0"/>
              <a:t>rd</a:t>
            </a:r>
            <a:r>
              <a:rPr lang="en-IN" dirty="0" smtClean="0"/>
              <a:t> semester</a:t>
            </a:r>
          </a:p>
          <a:p>
            <a:r>
              <a:rPr lang="en-IN" dirty="0" smtClean="0"/>
              <a:t>Guides: </a:t>
            </a:r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Murugesan</a:t>
            </a:r>
            <a:r>
              <a:rPr lang="en-IN" dirty="0"/>
              <a:t> </a:t>
            </a:r>
            <a:r>
              <a:rPr lang="en-IN" dirty="0" smtClean="0"/>
              <a:t>A,</a:t>
            </a:r>
          </a:p>
          <a:p>
            <a:r>
              <a:rPr lang="en-IN" dirty="0" smtClean="0"/>
              <a:t>Assistant Professor, Dept. of Neonatology</a:t>
            </a:r>
          </a:p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Bhabani</a:t>
            </a:r>
            <a:r>
              <a:rPr lang="en-IN" dirty="0" smtClean="0"/>
              <a:t> </a:t>
            </a:r>
            <a:r>
              <a:rPr lang="en-IN" dirty="0" err="1" smtClean="0"/>
              <a:t>Pegu</a:t>
            </a:r>
            <a:r>
              <a:rPr lang="en-IN" dirty="0" smtClean="0"/>
              <a:t>,</a:t>
            </a:r>
          </a:p>
          <a:p>
            <a:r>
              <a:rPr lang="en-IN" dirty="0" smtClean="0"/>
              <a:t>Associate Professor, Dept. of  Obstetrics and Neonatology</a:t>
            </a:r>
            <a:endParaRPr lang="en-IN" dirty="0"/>
          </a:p>
        </p:txBody>
      </p:sp>
      <p:pic>
        <p:nvPicPr>
          <p:cNvPr id="1026" name="Picture 2" descr="Jawaharlal Institute of Postgraduate Medical Education and Research - 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685800"/>
            <a:ext cx="1269123" cy="126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12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Sepsis causes 1/3</a:t>
            </a:r>
            <a:r>
              <a:rPr lang="en-IN" baseline="30000" dirty="0" smtClean="0"/>
              <a:t>rd</a:t>
            </a:r>
            <a:r>
              <a:rPr lang="en-IN" dirty="0" smtClean="0"/>
              <a:t> global neonatal deaths and 1/4</a:t>
            </a:r>
            <a:r>
              <a:rPr lang="en-IN" baseline="30000" dirty="0" smtClean="0"/>
              <a:t>th</a:t>
            </a:r>
            <a:r>
              <a:rPr lang="en-IN" dirty="0" smtClean="0"/>
              <a:t> neonatal deaths in first month of life</a:t>
            </a:r>
            <a:endParaRPr lang="en-IN" dirty="0" smtClean="0"/>
          </a:p>
          <a:p>
            <a:r>
              <a:rPr lang="en-IN" dirty="0" smtClean="0"/>
              <a:t>It can be Early onset (0-72hrs) or Late Onset (72 hours and beyond)</a:t>
            </a:r>
            <a:endParaRPr lang="en-IN" dirty="0" smtClean="0"/>
          </a:p>
          <a:p>
            <a:r>
              <a:rPr lang="en-IN" dirty="0" smtClean="0"/>
              <a:t>Early onset sepsis is caused mainly by vertical transmission from the mother but also from horizontal transmission from non-maternal sources.</a:t>
            </a:r>
            <a:endParaRPr lang="en-IN" dirty="0" smtClean="0"/>
          </a:p>
          <a:p>
            <a:r>
              <a:rPr lang="en-IN" dirty="0" smtClean="0"/>
              <a:t>A </a:t>
            </a:r>
            <a:r>
              <a:rPr lang="en-IN" dirty="0"/>
              <a:t>2015 systematic review emphasized the need for high quality studies in low-middle income countries, where the mortality attributable to sepsis is </a:t>
            </a:r>
            <a:r>
              <a:rPr lang="en-IN" dirty="0" smtClean="0"/>
              <a:t>high. </a:t>
            </a:r>
            <a:r>
              <a:rPr lang="en-IN" dirty="0"/>
              <a:t>Hence, we intended to do this study. 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09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/>
              <a:t>Primary Objective: </a:t>
            </a:r>
            <a:endParaRPr lang="en-IN" sz="2000" dirty="0"/>
          </a:p>
          <a:p>
            <a:pPr marL="114300" indent="0">
              <a:buNone/>
            </a:pPr>
            <a:r>
              <a:rPr lang="en-IN" sz="1600" dirty="0"/>
              <a:t>To estimate the proportion of neonates with culture positive early onset neonatal sepsis with identified maternal sources .</a:t>
            </a:r>
          </a:p>
          <a:p>
            <a:pPr marL="114300" indent="0">
              <a:buNone/>
            </a:pPr>
            <a:endParaRPr lang="en-IN" dirty="0" smtClean="0"/>
          </a:p>
          <a:p>
            <a:pPr marL="114300" indent="0">
              <a:buNone/>
            </a:pPr>
            <a:r>
              <a:rPr lang="en-IN" sz="2000" b="1" dirty="0" smtClean="0"/>
              <a:t>Secondary </a:t>
            </a:r>
            <a:r>
              <a:rPr lang="en-IN" sz="2000" b="1" dirty="0"/>
              <a:t>Objective:</a:t>
            </a:r>
            <a:endParaRPr lang="en-IN" sz="2000" dirty="0"/>
          </a:p>
          <a:p>
            <a:pPr marL="114300" indent="0">
              <a:buNone/>
            </a:pPr>
            <a:r>
              <a:rPr lang="en-IN" sz="1600" dirty="0"/>
              <a:t>a) To estimate the percentage distribution of bacteria that cause early onset neonatal sepsis through vertical transmission from the mother</a:t>
            </a:r>
          </a:p>
          <a:p>
            <a:pPr marL="114300" indent="0">
              <a:buNone/>
            </a:pPr>
            <a:r>
              <a:rPr lang="en-IN" sz="1600" dirty="0"/>
              <a:t>b) To estimate the mortality rate in culture-proven EONS</a:t>
            </a:r>
          </a:p>
          <a:p>
            <a:pPr marL="114300" indent="0">
              <a:buNone/>
            </a:pPr>
            <a:r>
              <a:rPr lang="en-IN" sz="1600" dirty="0"/>
              <a:t>c) To estimate the morbidity profile of early onset neonatal sepsis caused by different bacterial pathogens which includes the following short term outcomes:</a:t>
            </a:r>
          </a:p>
          <a:p>
            <a:pPr fontAlgn="base"/>
            <a:r>
              <a:rPr lang="en-IN" sz="1600" dirty="0"/>
              <a:t>Respiratory support</a:t>
            </a:r>
          </a:p>
          <a:p>
            <a:pPr fontAlgn="base"/>
            <a:r>
              <a:rPr lang="en-IN" sz="1600" dirty="0"/>
              <a:t>Duration of hospital stay</a:t>
            </a:r>
          </a:p>
          <a:p>
            <a:pPr fontAlgn="base"/>
            <a:r>
              <a:rPr lang="en-IN" sz="1600" dirty="0"/>
              <a:t>Shock, </a:t>
            </a:r>
            <a:r>
              <a:rPr lang="en-IN" sz="1600" dirty="0" err="1"/>
              <a:t>Sclerema</a:t>
            </a:r>
            <a:r>
              <a:rPr lang="en-IN" sz="1600" dirty="0"/>
              <a:t>, MODS (AKI, shock, liver dysfunction, myocardial dysfunction)</a:t>
            </a:r>
          </a:p>
          <a:p>
            <a:pPr marL="114300" indent="0">
              <a:buNone/>
            </a:pPr>
            <a:r>
              <a:rPr lang="en-IN" sz="1600" dirty="0"/>
              <a:t>d) To compare the difference in morbidity profile, pathogen and risk factors between survivors and </a:t>
            </a:r>
            <a:r>
              <a:rPr lang="en-IN" sz="1600" dirty="0" smtClean="0"/>
              <a:t>non-survivors</a:t>
            </a:r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93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sz="2400" b="1" dirty="0"/>
              <a:t>Study design</a:t>
            </a:r>
            <a:r>
              <a:rPr lang="en-IN" sz="2000" dirty="0"/>
              <a:t>: </a:t>
            </a:r>
            <a:r>
              <a:rPr lang="en-IN" sz="2000" dirty="0" smtClean="0"/>
              <a:t>Cross sectional study</a:t>
            </a:r>
          </a:p>
          <a:p>
            <a:pPr fontAlgn="base"/>
            <a:r>
              <a:rPr lang="en-IN" sz="2400" b="1" dirty="0" smtClean="0"/>
              <a:t>Data </a:t>
            </a:r>
            <a:r>
              <a:rPr lang="en-IN" sz="2400" b="1" dirty="0"/>
              <a:t>collection period</a:t>
            </a:r>
            <a:r>
              <a:rPr lang="en-IN" sz="2400" dirty="0"/>
              <a:t>: </a:t>
            </a:r>
            <a:r>
              <a:rPr lang="en-IN" sz="2000" dirty="0"/>
              <a:t>2 Months</a:t>
            </a:r>
          </a:p>
          <a:p>
            <a:pPr fontAlgn="base"/>
            <a:r>
              <a:rPr lang="en-IN" sz="2400" b="1" dirty="0"/>
              <a:t>Study participants</a:t>
            </a:r>
            <a:r>
              <a:rPr lang="en-IN" sz="2400" dirty="0"/>
              <a:t>: </a:t>
            </a:r>
          </a:p>
          <a:p>
            <a:pPr lvl="1" fontAlgn="base"/>
            <a:r>
              <a:rPr lang="en-IN" dirty="0"/>
              <a:t>Inclusion criteria: Neonates with culture proven early onset sepsis admitted to the NICU of a tertiary healthcare </a:t>
            </a:r>
            <a:r>
              <a:rPr lang="en-IN" dirty="0" smtClean="0"/>
              <a:t>centre </a:t>
            </a:r>
            <a:r>
              <a:rPr lang="en-IN" dirty="0"/>
              <a:t>in South India between July 2022 and December 2023</a:t>
            </a:r>
          </a:p>
          <a:p>
            <a:pPr lvl="1" fontAlgn="base"/>
            <a:r>
              <a:rPr lang="en-IN" dirty="0"/>
              <a:t>Exclusion criteria: incomplete/missing data in case sheets</a:t>
            </a:r>
          </a:p>
          <a:p>
            <a:pPr lvl="1" fontAlgn="base"/>
            <a:r>
              <a:rPr lang="en-IN" dirty="0"/>
              <a:t>Number of groups to be studied, identify groups with definition: One, Neonates admitted to NICU of tertiary healthcare </a:t>
            </a:r>
            <a:r>
              <a:rPr lang="en-IN" dirty="0" smtClean="0"/>
              <a:t>centre </a:t>
            </a:r>
            <a:r>
              <a:rPr lang="en-IN" dirty="0"/>
              <a:t>in South India with culture proven sepsis within 72 hours of birth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37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Sampling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 smtClean="0"/>
              <a:t>a) Sampling </a:t>
            </a:r>
            <a:r>
              <a:rPr lang="en-IN" b="1" dirty="0"/>
              <a:t>size calculation: </a:t>
            </a:r>
            <a:r>
              <a:rPr lang="en-IN" dirty="0"/>
              <a:t>Based on data from a previous prospective cohort </a:t>
            </a:r>
            <a:r>
              <a:rPr lang="en-IN" dirty="0" smtClean="0"/>
              <a:t>study,</a:t>
            </a:r>
          </a:p>
          <a:p>
            <a:pPr marL="114300" indent="0">
              <a:buNone/>
            </a:pPr>
            <a:r>
              <a:rPr lang="en-IN" dirty="0" smtClean="0"/>
              <a:t>we </a:t>
            </a:r>
            <a:r>
              <a:rPr lang="en-IN" dirty="0"/>
              <a:t>assumed that colonization of the maternal genital tract is likely in at least 15% of neonates with early onset sepsis. </a:t>
            </a:r>
            <a:endParaRPr lang="en-IN" dirty="0" smtClean="0"/>
          </a:p>
          <a:p>
            <a:pPr marL="114300" indent="0">
              <a:buNone/>
            </a:pPr>
            <a:r>
              <a:rPr lang="en-IN" dirty="0" smtClean="0"/>
              <a:t>Prevalance-15%</a:t>
            </a:r>
          </a:p>
          <a:p>
            <a:pPr marL="114300" indent="0">
              <a:buNone/>
            </a:pPr>
            <a:r>
              <a:rPr lang="en-IN" dirty="0" smtClean="0"/>
              <a:t>Precision-5%</a:t>
            </a:r>
          </a:p>
          <a:p>
            <a:pPr marL="114300" indent="0">
              <a:buNone/>
            </a:pPr>
            <a:r>
              <a:rPr lang="en-IN" dirty="0" smtClean="0"/>
              <a:t>Alpha error-0.05</a:t>
            </a:r>
          </a:p>
          <a:p>
            <a:pPr marL="114300" indent="0">
              <a:buNone/>
            </a:pPr>
            <a:r>
              <a:rPr lang="en-IN" dirty="0" smtClean="0"/>
              <a:t>Ideal </a:t>
            </a:r>
            <a:r>
              <a:rPr lang="en-IN" dirty="0" smtClean="0"/>
              <a:t>Sample Size-204</a:t>
            </a:r>
          </a:p>
          <a:p>
            <a:pPr marL="114300" indent="0">
              <a:buNone/>
            </a:pPr>
            <a:r>
              <a:rPr lang="en-IN" dirty="0" smtClean="0"/>
              <a:t>Practical Sample Size- 80</a:t>
            </a:r>
            <a:endParaRPr lang="en-IN" dirty="0"/>
          </a:p>
          <a:p>
            <a:pPr marL="114300" indent="0">
              <a:buNone/>
            </a:pPr>
            <a:r>
              <a:rPr lang="en-IN" b="1" dirty="0" smtClean="0"/>
              <a:t>b) Sampling technique: </a:t>
            </a:r>
            <a:r>
              <a:rPr lang="en-IN" dirty="0" smtClean="0"/>
              <a:t>Consecutive </a:t>
            </a:r>
            <a:r>
              <a:rPr lang="en-IN" dirty="0"/>
              <a:t>sampling</a:t>
            </a:r>
          </a:p>
          <a:p>
            <a:pPr marL="11430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122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Study procedure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</a:t>
            </a:r>
            <a:r>
              <a:rPr lang="en-IN" dirty="0" smtClean="0"/>
              <a:t>etrospective </a:t>
            </a:r>
            <a:r>
              <a:rPr lang="en-IN" dirty="0"/>
              <a:t>observational study </a:t>
            </a:r>
            <a:r>
              <a:rPr lang="en-IN" dirty="0" smtClean="0"/>
              <a:t>with </a:t>
            </a:r>
            <a:r>
              <a:rPr lang="en-IN" dirty="0"/>
              <a:t>data </a:t>
            </a:r>
            <a:r>
              <a:rPr lang="en-IN" dirty="0" smtClean="0"/>
              <a:t>of </a:t>
            </a:r>
            <a:r>
              <a:rPr lang="en-IN" dirty="0"/>
              <a:t>18 months between July 2022 to December 2023</a:t>
            </a:r>
            <a:r>
              <a:rPr lang="en-IN" dirty="0" smtClean="0"/>
              <a:t>.</a:t>
            </a:r>
          </a:p>
          <a:p>
            <a:r>
              <a:rPr lang="en-IN" dirty="0" smtClean="0"/>
              <a:t>Upon  approval, data regarding cases of EONS will be retrieved from NICU excel.</a:t>
            </a:r>
          </a:p>
          <a:p>
            <a:r>
              <a:rPr lang="en-IN" dirty="0" smtClean="0"/>
              <a:t>Data recorded for auditing purposes.</a:t>
            </a:r>
          </a:p>
          <a:p>
            <a:r>
              <a:rPr lang="en-IN" dirty="0" smtClean="0"/>
              <a:t>Digitalised </a:t>
            </a:r>
            <a:r>
              <a:rPr lang="en-IN" dirty="0"/>
              <a:t>records of the same neonates and their mothers </a:t>
            </a:r>
            <a:r>
              <a:rPr lang="en-IN" dirty="0" smtClean="0"/>
              <a:t>will </a:t>
            </a:r>
            <a:r>
              <a:rPr lang="en-IN" dirty="0"/>
              <a:t>be retrieved from the medical records section. </a:t>
            </a:r>
            <a:endParaRPr lang="en-IN" dirty="0" smtClean="0"/>
          </a:p>
          <a:p>
            <a:r>
              <a:rPr lang="en-IN" dirty="0" smtClean="0"/>
              <a:t>Details </a:t>
            </a:r>
            <a:r>
              <a:rPr lang="en-IN" dirty="0"/>
              <a:t>of neonatal cultures and maternal swabs will be obtained from Microbiology.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investigator will enter the </a:t>
            </a:r>
            <a:r>
              <a:rPr lang="en-IN" dirty="0" smtClean="0"/>
              <a:t>data (~26 parameters) </a:t>
            </a:r>
            <a:r>
              <a:rPr lang="en-IN" dirty="0"/>
              <a:t>in an excel file which will be </a:t>
            </a:r>
            <a:r>
              <a:rPr lang="en-IN" dirty="0" smtClean="0"/>
              <a:t>analysed.</a:t>
            </a:r>
            <a:r>
              <a:rPr lang="en-IN" dirty="0"/>
              <a:t>  </a:t>
            </a:r>
          </a:p>
        </p:txBody>
      </p:sp>
    </p:spTree>
    <p:extLst>
      <p:ext uri="{BB962C8B-B14F-4D97-AF65-F5344CB8AC3E}">
        <p14:creationId xmlns:p14="http://schemas.microsoft.com/office/powerpoint/2010/main" val="2911668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Statistical tests for Data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 smtClean="0"/>
              <a:t>Primary </a:t>
            </a:r>
            <a:r>
              <a:rPr lang="en-IN" sz="2400" dirty="0"/>
              <a:t>outcome </a:t>
            </a:r>
            <a:r>
              <a:rPr lang="en-IN" sz="2400" dirty="0" smtClean="0"/>
              <a:t>and mortality– Proportions</a:t>
            </a:r>
          </a:p>
          <a:p>
            <a:r>
              <a:rPr lang="en-IN" sz="2400" dirty="0" smtClean="0"/>
              <a:t>Secondary outcomes,</a:t>
            </a:r>
          </a:p>
          <a:p>
            <a:pPr marL="114300" indent="0">
              <a:buNone/>
            </a:pPr>
            <a:r>
              <a:rPr lang="en-IN" sz="2400" dirty="0"/>
              <a:t>	</a:t>
            </a:r>
            <a:r>
              <a:rPr lang="en-IN" sz="2400" dirty="0" smtClean="0"/>
              <a:t>continuous </a:t>
            </a:r>
            <a:r>
              <a:rPr lang="en-IN" sz="2400" dirty="0"/>
              <a:t>normally distributed </a:t>
            </a:r>
            <a:r>
              <a:rPr lang="en-IN" sz="2400" dirty="0" smtClean="0"/>
              <a:t>data-mean </a:t>
            </a:r>
            <a:r>
              <a:rPr lang="en-IN" sz="2400" dirty="0"/>
              <a:t>(SD</a:t>
            </a:r>
            <a:r>
              <a:rPr lang="en-IN" sz="2400" dirty="0" smtClean="0"/>
              <a:t>)</a:t>
            </a:r>
          </a:p>
          <a:p>
            <a:pPr marL="114300" indent="0">
              <a:buNone/>
            </a:pPr>
            <a:r>
              <a:rPr lang="en-IN" sz="2400" dirty="0"/>
              <a:t>	</a:t>
            </a:r>
            <a:r>
              <a:rPr lang="en-IN" sz="2400" dirty="0" smtClean="0"/>
              <a:t>non-normal data-median </a:t>
            </a:r>
            <a:r>
              <a:rPr lang="en-IN" sz="2400" dirty="0"/>
              <a:t>(IQR). </a:t>
            </a:r>
            <a:endParaRPr lang="en-IN" sz="2400" dirty="0" smtClean="0"/>
          </a:p>
          <a:p>
            <a:r>
              <a:rPr lang="en-IN" sz="2400" dirty="0" smtClean="0"/>
              <a:t>Categorical-proportions</a:t>
            </a:r>
            <a:r>
              <a:rPr lang="en-IN" sz="2400" dirty="0"/>
              <a:t>. </a:t>
            </a:r>
            <a:endParaRPr lang="en-IN" sz="2400" dirty="0" smtClean="0"/>
          </a:p>
          <a:p>
            <a:r>
              <a:rPr lang="en-IN" sz="2400" dirty="0" smtClean="0"/>
              <a:t>Comparison </a:t>
            </a:r>
            <a:r>
              <a:rPr lang="en-IN" sz="2400" dirty="0"/>
              <a:t>between survivors and non </a:t>
            </a:r>
            <a:r>
              <a:rPr lang="en-IN" sz="2400" dirty="0" smtClean="0"/>
              <a:t>survivors</a:t>
            </a:r>
          </a:p>
          <a:p>
            <a:pPr marL="114300" indent="0">
              <a:buNone/>
            </a:pPr>
            <a:r>
              <a:rPr lang="en-IN" sz="2400" dirty="0"/>
              <a:t>	</a:t>
            </a:r>
            <a:r>
              <a:rPr lang="en-IN" sz="2400" dirty="0" smtClean="0"/>
              <a:t>chi-squared</a:t>
            </a:r>
            <a:r>
              <a:rPr lang="en-IN" sz="2400" dirty="0"/>
              <a:t>/ Fisher exact </a:t>
            </a:r>
            <a:r>
              <a:rPr lang="en-IN" sz="2400" dirty="0" smtClean="0"/>
              <a:t>test- categorical </a:t>
            </a:r>
            <a:r>
              <a:rPr lang="en-IN" sz="2400" dirty="0"/>
              <a:t>variables </a:t>
            </a:r>
          </a:p>
          <a:p>
            <a:pPr marL="114300" indent="0">
              <a:buNone/>
            </a:pPr>
            <a:r>
              <a:rPr lang="en-IN" sz="2400" dirty="0" smtClean="0"/>
              <a:t>	t-test</a:t>
            </a:r>
            <a:r>
              <a:rPr lang="en-IN" sz="2400" dirty="0"/>
              <a:t>/ Mann-Whitney U </a:t>
            </a:r>
            <a:r>
              <a:rPr lang="en-IN" sz="2400" dirty="0" smtClean="0"/>
              <a:t>test- continuous variables </a:t>
            </a:r>
          </a:p>
          <a:p>
            <a:r>
              <a:rPr lang="en-IN" sz="2400" dirty="0" smtClean="0"/>
              <a:t>Analysis </a:t>
            </a:r>
            <a:r>
              <a:rPr lang="en-IN" sz="2400" dirty="0"/>
              <a:t>will be done in STATA 17.0 software.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6516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Help </a:t>
            </a:r>
            <a:r>
              <a:rPr lang="en-IN" sz="2800" dirty="0"/>
              <a:t>identify </a:t>
            </a:r>
            <a:r>
              <a:rPr lang="en-IN" sz="2800" dirty="0" smtClean="0"/>
              <a:t>colonisation </a:t>
            </a:r>
            <a:r>
              <a:rPr lang="en-IN" sz="2800" dirty="0"/>
              <a:t>patterns in mothers whose neonates acquire EONS. </a:t>
            </a:r>
            <a:endParaRPr lang="en-IN" sz="2800" dirty="0" smtClean="0"/>
          </a:p>
          <a:p>
            <a:r>
              <a:rPr lang="en-IN" sz="2800" dirty="0" smtClean="0"/>
              <a:t>Help plan </a:t>
            </a:r>
            <a:r>
              <a:rPr lang="en-IN" sz="2800" dirty="0"/>
              <a:t>interventions to mitigate the risks of </a:t>
            </a:r>
            <a:r>
              <a:rPr lang="en-IN" sz="2800" dirty="0" smtClean="0"/>
              <a:t>EONS</a:t>
            </a:r>
            <a:endParaRPr lang="en-IN" sz="2800" dirty="0" smtClean="0"/>
          </a:p>
          <a:p>
            <a:r>
              <a:rPr lang="en-IN" sz="2800" dirty="0" smtClean="0"/>
              <a:t>Seeks </a:t>
            </a:r>
            <a:r>
              <a:rPr lang="en-IN" sz="2800" dirty="0"/>
              <a:t>to reduce the incidence of infection through identifying mothers who can be targeted for </a:t>
            </a:r>
            <a:r>
              <a:rPr lang="en-IN" sz="2800" dirty="0" err="1"/>
              <a:t>intrapartum</a:t>
            </a:r>
            <a:r>
              <a:rPr lang="en-IN" sz="2800" dirty="0"/>
              <a:t> antibiotic prophylaxis for neonatal EONS.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67880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IN" sz="1200" dirty="0" smtClean="0"/>
              <a:t>(1) Investigators </a:t>
            </a:r>
            <a:r>
              <a:rPr lang="en-IN" sz="1200" dirty="0"/>
              <a:t>of the Delhi Neonatal Infection Study (</a:t>
            </a:r>
            <a:r>
              <a:rPr lang="en-IN" sz="1200" dirty="0" err="1"/>
              <a:t>DeNIS</a:t>
            </a:r>
            <a:r>
              <a:rPr lang="en-IN" sz="1200" dirty="0"/>
              <a:t>) collaboration. Characterisation and antimicrobial resistance of sepsis pathogens in neonates born in tertiary care centres in Delhi, India: a cohort study. Lancet Glob Health. 2016 Oct;4(10):e752-60. </a:t>
            </a:r>
            <a:r>
              <a:rPr lang="en-IN" sz="1200" dirty="0" err="1"/>
              <a:t>doi</a:t>
            </a:r>
            <a:r>
              <a:rPr lang="en-IN" sz="1200" dirty="0"/>
              <a:t>: 10.1016/S2214-109X(16)30148-6. PMID: 27633433.</a:t>
            </a:r>
          </a:p>
          <a:p>
            <a:pPr fontAlgn="base"/>
            <a:r>
              <a:rPr lang="en-IN" sz="1200" dirty="0" smtClean="0"/>
              <a:t>(2) Chan </a:t>
            </a:r>
            <a:r>
              <a:rPr lang="en-IN" sz="1200" dirty="0"/>
              <a:t>GJ, Lee AC, </a:t>
            </a:r>
            <a:r>
              <a:rPr lang="en-IN" sz="1200" dirty="0" err="1"/>
              <a:t>Baqui</a:t>
            </a:r>
            <a:r>
              <a:rPr lang="en-IN" sz="1200" dirty="0"/>
              <a:t> AH, Tan J, Black RE. Prevalence of early-onset neonatal infection among </a:t>
            </a:r>
            <a:r>
              <a:rPr lang="en-IN" sz="1200" dirty="0" err="1"/>
              <a:t>newborns</a:t>
            </a:r>
            <a:r>
              <a:rPr lang="en-IN" sz="1200" dirty="0"/>
              <a:t> of mothers with bacterial infection or colonization: a systematic review and meta-analysis. BMC Infect Dis. 2015 Mar 7;15:118. </a:t>
            </a:r>
            <a:r>
              <a:rPr lang="en-IN" sz="1200" dirty="0" err="1"/>
              <a:t>doi</a:t>
            </a:r>
            <a:r>
              <a:rPr lang="en-IN" sz="1200" dirty="0"/>
              <a:t>: 10.1186/s12879-015-0813-3. PMID: 25886298; PMCID: PMC4364328.</a:t>
            </a:r>
          </a:p>
          <a:p>
            <a:pPr fontAlgn="base"/>
            <a:r>
              <a:rPr lang="en-IN" sz="1200" dirty="0" smtClean="0"/>
              <a:t>(3) </a:t>
            </a:r>
            <a:r>
              <a:rPr lang="en-IN" sz="1200" dirty="0" err="1" smtClean="0"/>
              <a:t>Simonsen</a:t>
            </a:r>
            <a:r>
              <a:rPr lang="en-IN" sz="1200" dirty="0" smtClean="0"/>
              <a:t> </a:t>
            </a:r>
            <a:r>
              <a:rPr lang="en-IN" sz="1200" dirty="0"/>
              <a:t>KA, Anderson-Berry AL, </a:t>
            </a:r>
            <a:r>
              <a:rPr lang="en-IN" sz="1200" dirty="0" err="1"/>
              <a:t>Delair</a:t>
            </a:r>
            <a:r>
              <a:rPr lang="en-IN" sz="1200" dirty="0"/>
              <a:t> SF, Davies HD. Early-onset neonatal sepsis. </a:t>
            </a:r>
            <a:r>
              <a:rPr lang="en-IN" sz="1200" dirty="0" err="1"/>
              <a:t>Clin</a:t>
            </a:r>
            <a:r>
              <a:rPr lang="en-IN" sz="1200" dirty="0"/>
              <a:t> </a:t>
            </a:r>
            <a:r>
              <a:rPr lang="en-IN" sz="1200" dirty="0" err="1"/>
              <a:t>Microbiol</a:t>
            </a:r>
            <a:r>
              <a:rPr lang="en-IN" sz="1200" dirty="0"/>
              <a:t> Rev. 2014 Jan;27(1):21-47. </a:t>
            </a:r>
            <a:r>
              <a:rPr lang="en-IN" sz="1200" dirty="0" err="1"/>
              <a:t>doi</a:t>
            </a:r>
            <a:r>
              <a:rPr lang="en-IN" sz="1200" dirty="0"/>
              <a:t>: 10.1128/CMR.00031-13. PMID: 24396135; PMCID: PMC3910904.</a:t>
            </a:r>
          </a:p>
          <a:p>
            <a:pPr fontAlgn="base"/>
            <a:r>
              <a:rPr lang="en-IN" sz="1200" dirty="0" smtClean="0"/>
              <a:t>(4) </a:t>
            </a:r>
            <a:r>
              <a:rPr lang="en-IN" sz="1200" dirty="0" err="1" smtClean="0"/>
              <a:t>Chaurasia</a:t>
            </a:r>
            <a:r>
              <a:rPr lang="en-IN" sz="1200" dirty="0" smtClean="0"/>
              <a:t> </a:t>
            </a:r>
            <a:r>
              <a:rPr lang="en-IN" sz="1200" dirty="0"/>
              <a:t>S, </a:t>
            </a:r>
            <a:r>
              <a:rPr lang="en-IN" sz="1200" dirty="0" err="1"/>
              <a:t>Sivanandan</a:t>
            </a:r>
            <a:r>
              <a:rPr lang="en-IN" sz="1200" dirty="0"/>
              <a:t> S, </a:t>
            </a:r>
            <a:r>
              <a:rPr lang="en-IN" sz="1200" dirty="0" err="1"/>
              <a:t>Agarwal</a:t>
            </a:r>
            <a:r>
              <a:rPr lang="en-IN" sz="1200" dirty="0"/>
              <a:t> R, Ellis S, </a:t>
            </a:r>
            <a:r>
              <a:rPr lang="en-IN" sz="1200" dirty="0" err="1"/>
              <a:t>Sharland</a:t>
            </a:r>
            <a:r>
              <a:rPr lang="en-IN" sz="1200" dirty="0"/>
              <a:t> M, </a:t>
            </a:r>
            <a:r>
              <a:rPr lang="en-IN" sz="1200" dirty="0" err="1"/>
              <a:t>Sankar</a:t>
            </a:r>
            <a:r>
              <a:rPr lang="en-IN" sz="1200" dirty="0"/>
              <a:t> MJ. Neonatal sepsis in South Asia: huge burden and spiralling antimicrobial resistance. BMJ. 2019 Jan 22;364:k5314. </a:t>
            </a:r>
            <a:r>
              <a:rPr lang="en-IN" sz="1200" dirty="0" err="1"/>
              <a:t>doi</a:t>
            </a:r>
            <a:r>
              <a:rPr lang="en-IN" sz="1200" dirty="0"/>
              <a:t>: 10.1136/bmj.k5314. PMID: 30670451; PMCID: PMC6340339.</a:t>
            </a:r>
          </a:p>
          <a:p>
            <a:pPr fontAlgn="base"/>
            <a:r>
              <a:rPr lang="en-IN" sz="1200" dirty="0" smtClean="0"/>
              <a:t>(5) </a:t>
            </a:r>
            <a:r>
              <a:rPr lang="en-IN" sz="1200" dirty="0" err="1" smtClean="0"/>
              <a:t>Hornik</a:t>
            </a:r>
            <a:r>
              <a:rPr lang="en-IN" sz="1200" dirty="0" smtClean="0"/>
              <a:t> </a:t>
            </a:r>
            <a:r>
              <a:rPr lang="en-IN" sz="1200" dirty="0"/>
              <a:t>CP, Fort P, Clark RH, Watt K, Benjamin DK, Smith PB, et al. 2012. Early and late onset sepsis in very-low-birth-weight infants from a large group of neonatal intensive care units. Early Hum. Dev. </a:t>
            </a:r>
            <a:r>
              <a:rPr lang="en-IN" sz="1200" b="1" dirty="0"/>
              <a:t>88</a:t>
            </a:r>
            <a:r>
              <a:rPr lang="en-IN" sz="1200" dirty="0"/>
              <a:t>:S69–S74. 10.1016/S0378-3782(12)70019-1 </a:t>
            </a:r>
          </a:p>
          <a:p>
            <a:pPr fontAlgn="base"/>
            <a:r>
              <a:rPr lang="en-IN" sz="1200" dirty="0" smtClean="0"/>
              <a:t>(6) Shane </a:t>
            </a:r>
            <a:r>
              <a:rPr lang="en-IN" sz="1200" dirty="0"/>
              <a:t>AL, Stoll BJ. Recent developments and current issues in the epidemiology, diagnosis, and management of bacterial and fungal neonatal sepsis. Am J </a:t>
            </a:r>
            <a:r>
              <a:rPr lang="en-IN" sz="1200" dirty="0" err="1"/>
              <a:t>Perinatol</a:t>
            </a:r>
            <a:r>
              <a:rPr lang="en-IN" sz="1200" dirty="0"/>
              <a:t>. 2013 Feb;30(2):131-41. </a:t>
            </a:r>
            <a:r>
              <a:rPr lang="en-IN" sz="1200" dirty="0" err="1"/>
              <a:t>doi</a:t>
            </a:r>
            <a:r>
              <a:rPr lang="en-IN" sz="1200" dirty="0"/>
              <a:t>: 10.1055/s-0032-1333413. </a:t>
            </a:r>
            <a:r>
              <a:rPr lang="en-IN" sz="1200" dirty="0" err="1"/>
              <a:t>Epub</a:t>
            </a:r>
            <a:r>
              <a:rPr lang="en-IN" sz="1200" dirty="0"/>
              <a:t> 2013 Jan 7. PMID: 23297182.</a:t>
            </a:r>
          </a:p>
          <a:p>
            <a:pPr fontAlgn="base"/>
            <a:r>
              <a:rPr lang="en-IN" sz="1200" dirty="0" smtClean="0"/>
              <a:t>(7) Glaser </a:t>
            </a:r>
            <a:r>
              <a:rPr lang="en-IN" sz="1200" dirty="0"/>
              <a:t>MA, Hughes LM, </a:t>
            </a:r>
            <a:r>
              <a:rPr lang="en-IN" sz="1200" dirty="0" err="1"/>
              <a:t>Jnah</a:t>
            </a:r>
            <a:r>
              <a:rPr lang="en-IN" sz="1200" dirty="0"/>
              <a:t> A, Newberry D. Neonatal Sepsis: A Review of Pathophysiology and Current Management Strategies. </a:t>
            </a:r>
            <a:r>
              <a:rPr lang="en-IN" sz="1200" dirty="0" err="1"/>
              <a:t>Adv</a:t>
            </a:r>
            <a:r>
              <a:rPr lang="en-IN" sz="1200" dirty="0"/>
              <a:t> Neonatal Care. 2021 Feb 1;21(1):49-60. </a:t>
            </a:r>
            <a:r>
              <a:rPr lang="en-IN" sz="1200" dirty="0" err="1"/>
              <a:t>doi</a:t>
            </a:r>
            <a:r>
              <a:rPr lang="en-IN" sz="1200" dirty="0"/>
              <a:t>: 10.1097/ANC.0000000000000769. PMID: 32956076.</a:t>
            </a:r>
          </a:p>
          <a:p>
            <a:pPr fontAlgn="base"/>
            <a:r>
              <a:rPr lang="en-IN" sz="1200" dirty="0" smtClean="0"/>
              <a:t>(8) </a:t>
            </a:r>
            <a:r>
              <a:rPr lang="en-IN" sz="1200" dirty="0" err="1" smtClean="0"/>
              <a:t>Nanayakkara</a:t>
            </a:r>
            <a:r>
              <a:rPr lang="en-IN" sz="1200" dirty="0" smtClean="0"/>
              <a:t> </a:t>
            </a:r>
            <a:r>
              <a:rPr lang="en-IN" sz="1200" dirty="0"/>
              <a:t>D, </a:t>
            </a:r>
            <a:r>
              <a:rPr lang="en-IN" sz="1200" dirty="0" err="1"/>
              <a:t>Liyanapathirana</a:t>
            </a:r>
            <a:r>
              <a:rPr lang="en-IN" sz="1200" dirty="0"/>
              <a:t> V, </a:t>
            </a:r>
            <a:r>
              <a:rPr lang="en-IN" sz="1200" dirty="0" err="1"/>
              <a:t>Kandauda</a:t>
            </a:r>
            <a:r>
              <a:rPr lang="en-IN" sz="1200" dirty="0"/>
              <a:t> C, </a:t>
            </a:r>
            <a:r>
              <a:rPr lang="en-IN" sz="1200" dirty="0" err="1"/>
              <a:t>Gihan</a:t>
            </a:r>
            <a:r>
              <a:rPr lang="en-IN" sz="1200" dirty="0"/>
              <a:t> C, </a:t>
            </a:r>
            <a:r>
              <a:rPr lang="en-IN" sz="1200" dirty="0" err="1"/>
              <a:t>Ekanayake</a:t>
            </a:r>
            <a:r>
              <a:rPr lang="en-IN" sz="1200" dirty="0"/>
              <a:t> A, </a:t>
            </a:r>
            <a:r>
              <a:rPr lang="en-IN" sz="1200" dirty="0" err="1"/>
              <a:t>Adasooriya</a:t>
            </a:r>
            <a:r>
              <a:rPr lang="en-IN" sz="1200" dirty="0"/>
              <a:t> D. Maternal vaginal colonization with selected potential pathogens of neonatal sepsis in the era of antimicrobial resistance, a single </a:t>
            </a:r>
            <a:r>
              <a:rPr lang="en-IN" sz="1200" dirty="0" err="1"/>
              <a:t>center</a:t>
            </a:r>
            <a:r>
              <a:rPr lang="en-IN" sz="1200" dirty="0"/>
              <a:t> experience from Sri Lanka. BMC Infect Dis. 2018 Jul 28;18(1):351. </a:t>
            </a:r>
            <a:r>
              <a:rPr lang="en-IN" sz="1200" dirty="0" err="1"/>
              <a:t>doi</a:t>
            </a:r>
            <a:r>
              <a:rPr lang="en-IN" sz="1200" dirty="0"/>
              <a:t>: 10.1186/s12879-018-3262-y. PMID: 30055584; PMCID: PMC6064104.</a:t>
            </a:r>
          </a:p>
          <a:p>
            <a:pPr marL="114300" indent="0">
              <a:buNone/>
            </a:pPr>
            <a:r>
              <a:rPr lang="en-IN" sz="1200" dirty="0"/>
              <a:t/>
            </a:r>
            <a:br>
              <a:rPr lang="en-IN" sz="1200" dirty="0"/>
            </a:b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74625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108</TotalTime>
  <Words>602</Words>
  <Application>Microsoft Office PowerPoint</Application>
  <PresentationFormat>On-screen Show (4:3)</PresentationFormat>
  <Paragraphs>71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Adjacency</vt:lpstr>
      <vt:lpstr>Early onset culture-proven neonatal sepsis and maternal genital colonisation  - A retrospective cross sectional study in a tertiary healthcare centre in South India</vt:lpstr>
      <vt:lpstr>Introduction</vt:lpstr>
      <vt:lpstr>Objectives</vt:lpstr>
      <vt:lpstr>Methodology</vt:lpstr>
      <vt:lpstr>Sampling</vt:lpstr>
      <vt:lpstr>Study procedure</vt:lpstr>
      <vt:lpstr>Statistical tests for Data analysis</vt:lpstr>
      <vt:lpstr>Implications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Microsoft</cp:lastModifiedBy>
  <cp:revision>11</cp:revision>
  <dcterms:created xsi:type="dcterms:W3CDTF">2006-08-16T00:00:00Z</dcterms:created>
  <dcterms:modified xsi:type="dcterms:W3CDTF">2024-03-10T18:32:04Z</dcterms:modified>
</cp:coreProperties>
</file>